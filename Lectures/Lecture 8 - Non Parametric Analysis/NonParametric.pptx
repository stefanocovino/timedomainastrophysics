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9753600" cx="13004800"/>
  <p:notesSz cx="6858000" cy="9144000"/>
  <p:embeddedFontLst>
    <p:embeddedFont>
      <p:font typeface="Libre Baskerville"/>
      <p:regular r:id="rId24"/>
      <p:bold r:id="rId25"/>
      <p:italic r:id="rId26"/>
    </p:embeddedFont>
    <p:embeddedFont>
      <p:font typeface="Ovo"/>
      <p:regular r:id="rId27"/>
    </p:embeddedFont>
    <p:embeddedFont>
      <p:font typeface="Helvetica Neue"/>
      <p:regular r:id="rId28"/>
      <p:bold r:id="rId29"/>
      <p:italic r:id="rId30"/>
      <p:boldItalic r:id="rId31"/>
    </p:embeddedFont>
    <p:embeddedFont>
      <p:font typeface="Gill Sans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LibreBaskerville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ibreBaskerville-italic.fntdata"/><Relationship Id="rId25" Type="http://schemas.openxmlformats.org/officeDocument/2006/relationships/font" Target="fonts/LibreBaskerville-bold.fntdata"/><Relationship Id="rId28" Type="http://schemas.openxmlformats.org/officeDocument/2006/relationships/font" Target="fonts/HelveticaNeue-regular.fntdata"/><Relationship Id="rId27" Type="http://schemas.openxmlformats.org/officeDocument/2006/relationships/font" Target="fonts/Ov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7.xml"/><Relationship Id="rId33" Type="http://schemas.openxmlformats.org/officeDocument/2006/relationships/font" Target="fonts/GillSans-bold.fntdata"/><Relationship Id="rId10" Type="http://schemas.openxmlformats.org/officeDocument/2006/relationships/slide" Target="slides/slide6.xml"/><Relationship Id="rId32" Type="http://schemas.openxmlformats.org/officeDocument/2006/relationships/font" Target="fonts/GillSans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d943a7b060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d943a7b060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d943a7b060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d943a7b060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d943a7b060_0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d943a7b060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d943a7b060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d943a7b060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c4c25e469_0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dc4c25e469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dc4c25e469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dc4c25e469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dc4c25e469_0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dc4c25e469_0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967815976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d967815976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967815976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d967815976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d967815976_0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d967815976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d967815976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d967815976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967815976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d967815976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967815976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d96781597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d967815976_0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d967815976_0_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967815976_0_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d967815976_0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sottotito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079500" y="24384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079500" y="5346700"/>
            <a:ext cx="11176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Centrato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079500" y="34163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Orizzontale">
  <p:cSld name="Foto - Orizzont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1809750" y="519112"/>
            <a:ext cx="9685764" cy="6311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1079500" y="6515100"/>
            <a:ext cx="1117600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9500" y="8166100"/>
            <a:ext cx="111760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Verticale">
  <p:cSld name="Foto - Vertic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5841065" y="140733"/>
            <a:ext cx="13875774" cy="9042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914400" y="1193800"/>
            <a:ext cx="527050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914400" y="5219700"/>
            <a:ext cx="527050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In alto">
  <p:cSld name="Titolo - In alto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punti elenco">
  <p:cSld name="Titolo e punti elenc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punti elenco e foto">
  <p:cSld name="Titolo, punti elenco e f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6068075" y="635557"/>
            <a:ext cx="13908500" cy="9063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914400" y="2705100"/>
            <a:ext cx="51181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445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1pPr>
            <a:lvl2pPr indent="-4445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2pPr>
            <a:lvl3pPr indent="-4445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3pPr>
            <a:lvl4pPr indent="-4445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4pPr>
            <a:lvl5pPr indent="-4445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nti elenco">
  <p:cSld name="Punti ele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914400" y="685800"/>
            <a:ext cx="11176000" cy="83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Didascalia">
  <p:cSld name="Foto - Didascali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965200" y="228600"/>
            <a:ext cx="11069437" cy="7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016000" y="7200900"/>
            <a:ext cx="5207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2 per pagina">
  <p:cSld name="Foto - 2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>
            <p:ph idx="2" type="pic"/>
          </p:nvPr>
        </p:nvSpPr>
        <p:spPr>
          <a:xfrm>
            <a:off x="-725555" y="285492"/>
            <a:ext cx="13927350" cy="907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7" name="Google Shape;47;p11"/>
          <p:cNvSpPr/>
          <p:nvPr>
            <p:ph idx="3" type="pic"/>
          </p:nvPr>
        </p:nvSpPr>
        <p:spPr>
          <a:xfrm>
            <a:off x="-458135" y="318533"/>
            <a:ext cx="13875774" cy="9042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3 per pagina">
  <p:cSld name="Foto - 3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/>
          <p:nvPr>
            <p:ph idx="2" type="pic"/>
          </p:nvPr>
        </p:nvSpPr>
        <p:spPr>
          <a:xfrm>
            <a:off x="-387679" y="1342562"/>
            <a:ext cx="13785500" cy="898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1" name="Google Shape;51;p12"/>
          <p:cNvSpPr/>
          <p:nvPr>
            <p:ph idx="3" type="pic"/>
          </p:nvPr>
        </p:nvSpPr>
        <p:spPr>
          <a:xfrm>
            <a:off x="6278260" y="900786"/>
            <a:ext cx="6411700" cy="4178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2" name="Google Shape;52;p12"/>
          <p:cNvSpPr/>
          <p:nvPr>
            <p:ph idx="4" type="pic"/>
          </p:nvPr>
        </p:nvSpPr>
        <p:spPr>
          <a:xfrm>
            <a:off x="-33388" y="1041395"/>
            <a:ext cx="12027434" cy="7837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zione">
  <p:cSld name="Citazi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270000" y="63627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200"/>
              <a:buFont typeface="Libre Baskerville"/>
              <a:buNone/>
              <a:defRPr i="1" sz="3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1270000" y="3911600"/>
            <a:ext cx="10464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4200"/>
              <a:buFont typeface="Libre Baskerville"/>
              <a:buNone/>
              <a:defRPr sz="4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>
            <p:ph idx="2" type="pic"/>
          </p:nvPr>
        </p:nvSpPr>
        <p:spPr>
          <a:xfrm>
            <a:off x="-609600" y="-12700"/>
            <a:ext cx="15084057" cy="9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>
  <p:cSld name="Vuot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o">
  <p:cSld name="Vuoto">
    <p:bg>
      <p:bgPr>
        <a:solidFill>
          <a:srgbClr val="00517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12145165" y="7791449"/>
            <a:ext cx="386110" cy="41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47000" spcFirstLastPara="1" rIns="47000" wrap="square" tIns="470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43434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82600" lvl="0" marL="457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82600" lvl="1" marL="914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82600" lvl="2" marL="1371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82600" lvl="3" marL="1828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82600" lvl="4" marL="22860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82600" lvl="5" marL="2743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82600" lvl="6" marL="3200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82600" lvl="7" marL="3657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82600" lvl="8" marL="4114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3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idx="4294967295" type="ctrTitle"/>
          </p:nvPr>
        </p:nvSpPr>
        <p:spPr>
          <a:xfrm>
            <a:off x="808930" y="1091167"/>
            <a:ext cx="11637070" cy="13970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Ovo"/>
              <a:buNone/>
            </a:pPr>
            <a:r>
              <a:rPr b="0" i="0" lang="en-US" sz="58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TIME-DOMAIN ASTRONOMY</a:t>
            </a:r>
            <a:endParaRPr/>
          </a:p>
        </p:txBody>
      </p:sp>
      <p:sp>
        <p:nvSpPr>
          <p:cNvPr id="70" name="Google Shape;70;p17"/>
          <p:cNvSpPr txBox="1"/>
          <p:nvPr>
            <p:ph idx="4294967295" type="subTitle"/>
          </p:nvPr>
        </p:nvSpPr>
        <p:spPr>
          <a:xfrm>
            <a:off x="1079500" y="4925193"/>
            <a:ext cx="11176000" cy="13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Stefano Covino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INAF / Brera Astronomical Observatory</a:t>
            </a:r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7861" y="7605293"/>
            <a:ext cx="1715265" cy="1709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3302" y="7613570"/>
            <a:ext cx="2260024" cy="169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7"/>
          <p:cNvPicPr preferRelativeResize="0"/>
          <p:nvPr/>
        </p:nvPicPr>
        <p:blipFill rotWithShape="1">
          <a:blip r:embed="rId5">
            <a:alphaModFix/>
          </a:blip>
          <a:srcRect b="11604" l="11980" r="11973" t="11611"/>
          <a:stretch/>
        </p:blipFill>
        <p:spPr>
          <a:xfrm>
            <a:off x="1654856" y="7615439"/>
            <a:ext cx="1672792" cy="168900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7"/>
          <p:cNvSpPr txBox="1"/>
          <p:nvPr/>
        </p:nvSpPr>
        <p:spPr>
          <a:xfrm>
            <a:off x="2225563" y="3167825"/>
            <a:ext cx="8803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vo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Lectures 8: Non Parametric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1507563" y="488548"/>
            <a:ext cx="10660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Phase Dispersion Minimization</a:t>
            </a:r>
            <a:endParaRPr/>
          </a:p>
        </p:txBody>
      </p:sp>
      <p:sp>
        <p:nvSpPr>
          <p:cNvPr id="80" name="Google Shape;80;p18"/>
          <p:cNvSpPr txBox="1"/>
          <p:nvPr/>
        </p:nvSpPr>
        <p:spPr>
          <a:xfrm>
            <a:off x="534198" y="1970451"/>
            <a:ext cx="11936400" cy="49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It is easy to realize that a possible procedure to choose  between different periods for a time series could be based on computing which is the one producing the least observational scatter about the mean (derived) light curve.</a:t>
            </a:r>
            <a:endParaRPr/>
          </a:p>
          <a:p>
            <a:pPr indent="-19685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Let's assume to have a discrete set of N observations  represented by an observation time t and a magnitude x.</a:t>
            </a:r>
            <a:endParaRPr b="0" i="0" sz="3500" u="none" cap="none" strike="noStrike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1275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Ovo"/>
              <a:buChar char="•"/>
            </a:pPr>
            <a:r>
              <a:rPr i="0" lang="en-US" sz="35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And be s</a:t>
            </a:r>
            <a:r>
              <a:rPr baseline="30000" i="0" lang="en-US" sz="35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2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</a:t>
            </a:r>
            <a:r>
              <a:rPr i="0" lang="en-US" sz="35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the sample variance of x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:</a:t>
            </a:r>
            <a:r>
              <a:rPr i="0" lang="en-US" sz="35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</a:t>
            </a:r>
            <a:endParaRPr sz="1300"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descr="s^2 = \frac{\sum(x_i-\tilde x)^2}{N-1}" id="81" name="Google Shape;81;p18" title="MathEquation,#fcfcfc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8612" y="7416975"/>
            <a:ext cx="3811300" cy="12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1507563" y="488548"/>
            <a:ext cx="10660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Phase Dispersion Minimization</a:t>
            </a:r>
            <a:endParaRPr/>
          </a:p>
        </p:txBody>
      </p:sp>
      <p:sp>
        <p:nvSpPr>
          <p:cNvPr id="87" name="Google Shape;87;p19"/>
          <p:cNvSpPr txBox="1"/>
          <p:nvPr/>
        </p:nvSpPr>
        <p:spPr>
          <a:xfrm>
            <a:off x="534198" y="1970451"/>
            <a:ext cx="11936400" cy="17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Suppose we have chosen M distinct subsamples, having variances s</a:t>
            </a:r>
            <a:r>
              <a:rPr baseline="-25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j</a:t>
            </a:r>
            <a:r>
              <a:rPr baseline="30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2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(j=l,M) and containing n</a:t>
            </a:r>
            <a:r>
              <a:rPr baseline="-25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j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data points. The overall variance for all the samples is then given by:</a:t>
            </a:r>
            <a:endParaRPr sz="1300"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descr="s^2 = \frac{\sum(n_j-1)s_j^2}{\sum n_j-M}" id="88" name="Google Shape;88;p19" title="MathEquation,#fffff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400" y="3994125"/>
            <a:ext cx="3615658" cy="1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9"/>
          <p:cNvSpPr txBox="1"/>
          <p:nvPr/>
        </p:nvSpPr>
        <p:spPr>
          <a:xfrm>
            <a:off x="664523" y="5569101"/>
            <a:ext cx="11936400" cy="17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In order to minimize the variance of the data with respect to the mean light curve be Π a trial period and compute the phases:</a:t>
            </a:r>
            <a:endParaRPr sz="1300"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descr="\phi_i = t_i/\Pi - {\rm int}(t_i/\Pi)" id="90" name="Google Shape;90;p19" title="MathEquation,#fffff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3700" y="7287800"/>
            <a:ext cx="4788950" cy="5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1507563" y="488548"/>
            <a:ext cx="10660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Phase Dispersion Minimization</a:t>
            </a:r>
            <a:endParaRPr/>
          </a:p>
        </p:txBody>
      </p:sp>
      <p:sp>
        <p:nvSpPr>
          <p:cNvPr id="96" name="Google Shape;96;p20"/>
          <p:cNvSpPr txBox="1"/>
          <p:nvPr/>
        </p:nvSpPr>
        <p:spPr>
          <a:xfrm>
            <a:off x="534198" y="1970451"/>
            <a:ext cx="11936400" cy="5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Now let’s pick M samples from x using the criterion that all the members of sample j have similar φ</a:t>
            </a:r>
            <a:r>
              <a:rPr baseline="-25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j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The samples may be chosen in any way that satisfies the criterion. All points need not be picked, or, alternatively, a point can belong to many samples.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The variance of these samples gives a measure of the scatter around the mean light curve defined by the means of the x</a:t>
            </a:r>
            <a:r>
              <a:rPr baseline="-25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j 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in each sample, considered as a function of φ.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1507563" y="488548"/>
            <a:ext cx="10660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Phase Dispersion Minimization</a:t>
            </a:r>
            <a:endParaRPr/>
          </a:p>
        </p:txBody>
      </p:sp>
      <p:sp>
        <p:nvSpPr>
          <p:cNvPr id="102" name="Google Shape;102;p21"/>
          <p:cNvSpPr txBox="1"/>
          <p:nvPr/>
        </p:nvSpPr>
        <p:spPr>
          <a:xfrm>
            <a:off x="534198" y="1970451"/>
            <a:ext cx="119364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Finally, let’s define the statistics: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descr="\Theta^2 = s^2 / \sigma^2" id="103" name="Google Shape;103;p21" title="MathEquation,#fffff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575" y="3001100"/>
            <a:ext cx="2490858" cy="6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 txBox="1"/>
          <p:nvPr/>
        </p:nvSpPr>
        <p:spPr>
          <a:xfrm>
            <a:off x="534198" y="3936326"/>
            <a:ext cx="11936400" cy="17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If Π is not the true period, then s</a:t>
            </a:r>
            <a:r>
              <a:rPr baseline="30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2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≃σ</a:t>
            </a:r>
            <a:r>
              <a:rPr baseline="30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2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, while if Π is the true period Θ will be in a local minimum compared to other tested periods.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175" y="5658775"/>
            <a:ext cx="7351225" cy="35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/>
        </p:nvSpPr>
        <p:spPr>
          <a:xfrm>
            <a:off x="1507563" y="488548"/>
            <a:ext cx="10660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Phase Dispersion Minimization</a:t>
            </a:r>
            <a:endParaRPr/>
          </a:p>
        </p:txBody>
      </p:sp>
      <p:sp>
        <p:nvSpPr>
          <p:cNvPr id="111" name="Google Shape;111;p22"/>
          <p:cNvSpPr txBox="1"/>
          <p:nvPr/>
        </p:nvSpPr>
        <p:spPr>
          <a:xfrm>
            <a:off x="534198" y="1970451"/>
            <a:ext cx="11936400" cy="38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Since this technique seeks to minimize the dispersion of the data at constant phase, it is referred as “phase dispersion minimization” (PDM).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If we assume that our data are normally distributed it can be shown that Θ follow a F distribution with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and N-1 degrees of freedom (since indeed Θ=s</a:t>
            </a:r>
            <a:r>
              <a:rPr baseline="30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2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/σ</a:t>
            </a:r>
            <a:r>
              <a:rPr baseline="30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2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).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descr="\sum n_j - M" id="112" name="Google Shape;112;p22" title="MathEquation,#f8f7f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3600" y="4722250"/>
            <a:ext cx="2309090" cy="6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/>
        </p:nvSpPr>
        <p:spPr>
          <a:xfrm>
            <a:off x="1507563" y="488548"/>
            <a:ext cx="10660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PDM vs Lomb-Scargle</a:t>
            </a:r>
            <a:endParaRPr/>
          </a:p>
        </p:txBody>
      </p:sp>
      <p:sp>
        <p:nvSpPr>
          <p:cNvPr id="118" name="Google Shape;118;p23"/>
          <p:cNvSpPr txBox="1"/>
          <p:nvPr/>
        </p:nvSpPr>
        <p:spPr>
          <a:xfrm>
            <a:off x="1965575" y="8701575"/>
            <a:ext cx="8659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PDM										Lomb-Scargle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775" y="1800025"/>
            <a:ext cx="11965087" cy="6462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/>
        </p:nvSpPr>
        <p:spPr>
          <a:xfrm>
            <a:off x="1507563" y="488548"/>
            <a:ext cx="10660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String Length Method</a:t>
            </a:r>
            <a:endParaRPr/>
          </a:p>
        </p:txBody>
      </p:sp>
      <p:sp>
        <p:nvSpPr>
          <p:cNvPr id="125" name="Google Shape;125;p24"/>
          <p:cNvSpPr txBox="1"/>
          <p:nvPr/>
        </p:nvSpPr>
        <p:spPr>
          <a:xfrm>
            <a:off x="534198" y="1970451"/>
            <a:ext cx="11936400" cy="3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In this method the quantity to be minimized is the sum of the lengths of line segments joining successive points (m</a:t>
            </a:r>
            <a:r>
              <a:rPr baseline="-25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, φ</a:t>
            </a:r>
            <a:r>
              <a:rPr baseline="-25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) in a phase diagram.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The period is chosen to minimize the following quantity, with n the number of observations: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563" y="5661951"/>
            <a:ext cx="1035367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/>
          <p:nvPr/>
        </p:nvSpPr>
        <p:spPr>
          <a:xfrm>
            <a:off x="534210" y="7389051"/>
            <a:ext cx="119364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Given that 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m</a:t>
            </a:r>
            <a:r>
              <a:rPr baseline="-25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and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φ</a:t>
            </a:r>
            <a:r>
              <a:rPr baseline="-25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have different units one has to properly scale m</a:t>
            </a:r>
            <a:r>
              <a:rPr baseline="-25000"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/>
        </p:nvSpPr>
        <p:spPr>
          <a:xfrm>
            <a:off x="1507563" y="488548"/>
            <a:ext cx="10660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String Length Method</a:t>
            </a:r>
            <a:endParaRPr/>
          </a:p>
        </p:txBody>
      </p:sp>
      <p:sp>
        <p:nvSpPr>
          <p:cNvPr id="133" name="Google Shape;133;p25"/>
          <p:cNvSpPr txBox="1"/>
          <p:nvPr/>
        </p:nvSpPr>
        <p:spPr>
          <a:xfrm>
            <a:off x="534198" y="1970451"/>
            <a:ext cx="119364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In its essence the 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algorithm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is straightforward: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575" y="3484501"/>
            <a:ext cx="1015365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/>
        </p:nvSpPr>
        <p:spPr>
          <a:xfrm>
            <a:off x="1507563" y="488548"/>
            <a:ext cx="10660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 rich zoo...</a:t>
            </a:r>
            <a:endParaRPr/>
          </a:p>
        </p:txBody>
      </p:sp>
      <p:sp>
        <p:nvSpPr>
          <p:cNvPr id="140" name="Google Shape;140;p26"/>
          <p:cNvSpPr txBox="1"/>
          <p:nvPr/>
        </p:nvSpPr>
        <p:spPr>
          <a:xfrm>
            <a:off x="534198" y="1970451"/>
            <a:ext cx="11936400" cy="65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People developed s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everal methods to cope with the characteristics of light curves in astronomy (irregular sampling, etc.).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The most widely used are the Lomb-Scargle (LS) periodogram, epoch folding, analysis of variance (AoV), string length (SL) methods, and the discrete or slotted autocorrelation.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For the LS and AoV periodograms statistical confidence measures have been developed to assess periodicity detection besides estimating the period.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/>
        </p:nvSpPr>
        <p:spPr>
          <a:xfrm>
            <a:off x="1507563" y="488548"/>
            <a:ext cx="10660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Lomb-Scargle</a:t>
            </a:r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534198" y="1970451"/>
            <a:ext cx="11936400" cy="49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As we know already, t</a:t>
            </a: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he LS periodogram is an extension of the conventional periodogram for unevenly sampled time series.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○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 sample power spectrum is obtained by fitting a trigonometric model in a least squares sense over the available randomly sampled data points.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○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The maximum of the LS power spectrum corresponds to the angular frequency whose model best fits the time series.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/>
        </p:nvSpPr>
        <p:spPr>
          <a:xfrm>
            <a:off x="1419288" y="289948"/>
            <a:ext cx="10660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Epoch Folding</a:t>
            </a:r>
            <a:endParaRPr/>
          </a:p>
        </p:txBody>
      </p:sp>
      <p:sp>
        <p:nvSpPr>
          <p:cNvPr id="152" name="Google Shape;152;p28"/>
          <p:cNvSpPr txBox="1"/>
          <p:nvPr/>
        </p:nvSpPr>
        <p:spPr>
          <a:xfrm>
            <a:off x="534198" y="1573251"/>
            <a:ext cx="11936400" cy="76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50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●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In epoch folding a trial period, P, is used to obtain a phase diagram of the light curve.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○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The trial period is found by an ad-hoc method, or simply corresponds to a sweep among a range of values.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●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This transformation is equivalent to dividing the light curve in segments of length P and then plotting the segments one on top of another, hence folding the light curve.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○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If the true period is used to fold the light curve, the periodic shape will be clearly seen in the phase diagram.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○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If a wrong period is used instead, the phase diagram won’t show a clear structure and it will look like noise.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/>
        </p:nvSpPr>
        <p:spPr>
          <a:xfrm>
            <a:off x="1059226" y="488550"/>
            <a:ext cx="112410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Analysis of Variance and String Length</a:t>
            </a:r>
            <a:endParaRPr/>
          </a:p>
        </p:txBody>
      </p:sp>
      <p:sp>
        <p:nvSpPr>
          <p:cNvPr id="158" name="Google Shape;158;p29"/>
          <p:cNvSpPr txBox="1"/>
          <p:nvPr/>
        </p:nvSpPr>
        <p:spPr>
          <a:xfrm>
            <a:off x="534198" y="1573251"/>
            <a:ext cx="11936400" cy="76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50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●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In AoV the folded light curve is binned and the ratio of the within-bins variance and the between-bins variance is computed.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○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If the light curve is folded using its true period, the AoV statistic is expected to reach a minimum value.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●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In SL methods, the light curve is folded using a trial period and the sum of distances between consecutive points (string) in the folded curve is computed.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○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The true period is estimated by minimizing the string length on a range of trial periods.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○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The true period is expected to yield the most ordered folded curve and hence the minimum total distance between points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/>
        </p:nvSpPr>
        <p:spPr>
          <a:xfrm>
            <a:off x="1059226" y="259950"/>
            <a:ext cx="112410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Slotted autocorrelation and beyond...</a:t>
            </a:r>
            <a:endParaRPr/>
          </a:p>
        </p:txBody>
      </p:sp>
      <p:sp>
        <p:nvSpPr>
          <p:cNvPr id="164" name="Google Shape;164;p30"/>
          <p:cNvSpPr txBox="1"/>
          <p:nvPr/>
        </p:nvSpPr>
        <p:spPr>
          <a:xfrm>
            <a:off x="398448" y="1410826"/>
            <a:ext cx="11936400" cy="81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50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●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In slotted autocorrelation, time lags are defined as intervals or slots instead of single values. The slotted autocorrelation function at a certain time lag is computed by averaging the cross product between samples whose time differences fall in the given slot.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●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All these methods are essentially based on second order statistic analysis.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○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Information theoretic based criteria extract information from the probability density function.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●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The slotting technique was extended to the information theoretic concept of correntropy. However, the slotted technique has the drawback that is highly dependant on the slot size.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/>
        </p:nvSpPr>
        <p:spPr>
          <a:xfrm>
            <a:off x="772350" y="400275"/>
            <a:ext cx="119364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Generalized Correlation Function</a:t>
            </a:r>
            <a:endParaRPr/>
          </a:p>
        </p:txBody>
      </p:sp>
      <p:sp>
        <p:nvSpPr>
          <p:cNvPr id="170" name="Google Shape;170;p31"/>
          <p:cNvSpPr txBox="1"/>
          <p:nvPr/>
        </p:nvSpPr>
        <p:spPr>
          <a:xfrm>
            <a:off x="622473" y="1940338"/>
            <a:ext cx="11936400" cy="5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The generalized correlation function (GCF) is also known as correntropy. The GCF measures similarities between feature vectors separated by a certain time delay in input space.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The similarities are measured in terms of inner products in a high-dimensional kernel space.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For a random process                          with T being an index set, the correntropy function is defined as: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descr="\{X_t, t  \in T\}" id="171" name="Google Shape;171;p31" title="MathEquation,#fcfcfc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900" y="6283373"/>
            <a:ext cx="2659686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8125" y="7793499"/>
            <a:ext cx="6344850" cy="11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/>
        </p:nvSpPr>
        <p:spPr>
          <a:xfrm>
            <a:off x="772350" y="400275"/>
            <a:ext cx="119364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Centered Correntropy</a:t>
            </a:r>
            <a:endParaRPr/>
          </a:p>
        </p:txBody>
      </p:sp>
      <p:sp>
        <p:nvSpPr>
          <p:cNvPr id="178" name="Google Shape;178;p32"/>
          <p:cNvSpPr txBox="1"/>
          <p:nvPr/>
        </p:nvSpPr>
        <p:spPr>
          <a:xfrm>
            <a:off x="622473" y="1940338"/>
            <a:ext cx="119364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It is also possible to define the centered correntropy: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id="179" name="Google Shape;1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9475" y="2800354"/>
            <a:ext cx="9151600" cy="11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2"/>
          <p:cNvSpPr txBox="1"/>
          <p:nvPr/>
        </p:nvSpPr>
        <p:spPr>
          <a:xfrm>
            <a:off x="696148" y="4298888"/>
            <a:ext cx="11936400" cy="22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 kernel can be viewed as a measure of the similarity of the data.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 frequently used kernel is the Gaussian kernel: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7050" y="7059806"/>
            <a:ext cx="7936375" cy="1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/>
        </p:nvSpPr>
        <p:spPr>
          <a:xfrm>
            <a:off x="750275" y="488550"/>
            <a:ext cx="119364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Correntropy Kernelized Periodogram</a:t>
            </a:r>
            <a:endParaRPr/>
          </a:p>
        </p:txBody>
      </p:sp>
      <p:sp>
        <p:nvSpPr>
          <p:cNvPr id="187" name="Google Shape;187;p33"/>
          <p:cNvSpPr txBox="1"/>
          <p:nvPr/>
        </p:nvSpPr>
        <p:spPr>
          <a:xfrm>
            <a:off x="534198" y="1709776"/>
            <a:ext cx="11936400" cy="76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 kernel can be any semi-definite positive function. And it is possible to develop periodic kernels.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This brings to a metric combining the correntropy with a periodic kernel to measure similarity among samples separated by a given period.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This algorithm is known as Correntropy Kernelized Periodogram, and does not require any resampling, slotting or folding scheme as it is computed directly from the available samples.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4191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vo"/>
              <a:buChar char="•"/>
            </a:pPr>
            <a:r>
              <a:rPr lang="en-US" sz="35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This idea has strong connection with Gaussian Process analysis, machine learning and information theory, </a:t>
            </a:r>
            <a:endParaRPr sz="35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/>
        </p:nvSpPr>
        <p:spPr>
          <a:xfrm>
            <a:off x="1153401" y="545429"/>
            <a:ext cx="10697999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Exercise</a:t>
            </a:r>
            <a:endParaRPr/>
          </a:p>
        </p:txBody>
      </p:sp>
      <p:sp>
        <p:nvSpPr>
          <p:cNvPr id="193" name="Google Shape;193;p34"/>
          <p:cNvSpPr txBox="1"/>
          <p:nvPr/>
        </p:nvSpPr>
        <p:spPr>
          <a:xfrm>
            <a:off x="2840446" y="2782775"/>
            <a:ext cx="7839900" cy="17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377189" lvl="0" marL="377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Useful notebook:</a:t>
            </a:r>
            <a:endParaRPr/>
          </a:p>
          <a:p>
            <a:pPr indent="-148589" lvl="0" marL="37718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605789" lvl="1" marL="1278889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AutoNum type="arabicPeriod"/>
            </a:pPr>
            <a:r>
              <a:rPr lang="en-US"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NonParametricPeriodograms</a:t>
            </a:r>
            <a:endParaRPr/>
          </a:p>
        </p:txBody>
      </p:sp>
      <p:pic>
        <p:nvPicPr>
          <p:cNvPr id="194" name="Google Shape;19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6175" y="5494500"/>
            <a:ext cx="81534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1018115" y="347825"/>
            <a:ext cx="11218578" cy="983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104"/>
              <a:buFont typeface="Ovo"/>
              <a:buNone/>
            </a:pPr>
            <a:r>
              <a:rPr lang="en-US" sz="5104"/>
              <a:t>REFERENCES AND DEEPENING</a:t>
            </a:r>
            <a:endParaRPr/>
          </a:p>
        </p:txBody>
      </p:sp>
      <p:sp>
        <p:nvSpPr>
          <p:cNvPr id="200" name="Google Shape;200;p35"/>
          <p:cNvSpPr txBox="1"/>
          <p:nvPr/>
        </p:nvSpPr>
        <p:spPr>
          <a:xfrm>
            <a:off x="1412037" y="7929500"/>
            <a:ext cx="44469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</a:pPr>
            <a:r>
              <a:rPr lang="en-US"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Bob Stellingwerf</a:t>
            </a:r>
            <a:endParaRPr/>
          </a:p>
        </p:txBody>
      </p:sp>
      <p:pic>
        <p:nvPicPr>
          <p:cNvPr id="201" name="Google Shape;201;p35"/>
          <p:cNvPicPr preferRelativeResize="0"/>
          <p:nvPr/>
        </p:nvPicPr>
        <p:blipFill rotWithShape="1">
          <a:blip r:embed="rId3">
            <a:alphaModFix/>
          </a:blip>
          <a:srcRect b="0" l="0" r="8138" t="0"/>
          <a:stretch/>
        </p:blipFill>
        <p:spPr>
          <a:xfrm>
            <a:off x="888388" y="2058025"/>
            <a:ext cx="5759000" cy="30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7950" y="5588372"/>
            <a:ext cx="2239875" cy="22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7362" y="5841025"/>
            <a:ext cx="1715575" cy="285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5"/>
          <p:cNvSpPr txBox="1"/>
          <p:nvPr/>
        </p:nvSpPr>
        <p:spPr>
          <a:xfrm>
            <a:off x="7801687" y="8840450"/>
            <a:ext cx="44469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</a:pPr>
            <a:r>
              <a:rPr lang="en-US"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Mike</a:t>
            </a:r>
            <a:r>
              <a:rPr lang="en-US"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Dworetsky</a:t>
            </a:r>
            <a:endParaRPr/>
          </a:p>
        </p:txBody>
      </p:sp>
      <p:pic>
        <p:nvPicPr>
          <p:cNvPr id="205" name="Google Shape;20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78446" y="1697275"/>
            <a:ext cx="4044054" cy="400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72675A"/>
      </a:dk1>
      <a:lt1>
        <a:srgbClr val="184472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000000"/>
      </a:dk1>
      <a:lt1>
        <a:srgbClr val="FFFFFF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